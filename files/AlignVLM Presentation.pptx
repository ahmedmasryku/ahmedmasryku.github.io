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4ebea1d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4ebea1d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4ebea1d0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4ebea1d0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4ebea1d0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4ebea1d0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4ebea1d0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4ebea1d0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4ebea1d0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4ebea1d0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4ebea1d0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4ebea1d0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4ebea1d0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4ebea1d0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4ebea1d0e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4ebea1d0e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4ebea1d0e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4ebea1d0e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11" Type="http://schemas.openxmlformats.org/officeDocument/2006/relationships/image" Target="../media/image7.png"/><Relationship Id="rId10" Type="http://schemas.openxmlformats.org/officeDocument/2006/relationships/image" Target="../media/image16.png"/><Relationship Id="rId9" Type="http://schemas.openxmlformats.org/officeDocument/2006/relationships/image" Target="../media/image11.jpg"/><Relationship Id="rId5" Type="http://schemas.openxmlformats.org/officeDocument/2006/relationships/image" Target="../media/image25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009350" y="1469250"/>
            <a:ext cx="7353900" cy="110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70C0"/>
                </a:solidFill>
              </a:rPr>
              <a:t>AlignVLM: Bridging Vision and Language Latent Spaces for Multimodal Document Understanding</a:t>
            </a:r>
            <a:br>
              <a:rPr b="1" lang="en-CA" sz="2400">
                <a:solidFill>
                  <a:srgbClr val="0070C0"/>
                </a:solidFill>
              </a:rPr>
            </a:br>
            <a:r>
              <a:rPr b="1" i="1" lang="en-CA" sz="2400">
                <a:solidFill>
                  <a:srgbClr val="FF9900"/>
                </a:solidFill>
              </a:rPr>
              <a:t>NeurIPS 2025</a:t>
            </a:r>
            <a:endParaRPr sz="2400">
              <a:solidFill>
                <a:srgbClr val="FF9900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29050" y="2666525"/>
            <a:ext cx="83145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87339"/>
              <a:buNone/>
            </a:pPr>
            <a:r>
              <a:rPr b="1" lang="en-CA" sz="1165">
                <a:solidFill>
                  <a:srgbClr val="4A452A"/>
                </a:solidFill>
              </a:rPr>
              <a:t>Ahmed Masry, </a:t>
            </a:r>
            <a:r>
              <a:rPr lang="en-CA" sz="1165">
                <a:solidFill>
                  <a:srgbClr val="4A452A"/>
                </a:solidFill>
              </a:rPr>
              <a:t>Juan A. Rodriguez, Tianyu Zhang, Suyuchen Wang, Chao Wang, Aarash Feizi, Akshay Kalkunte Suresh, Abhay Puri, Xiangru Jian, Pierre-André Noël, Sathwik Tejaswi Madhusudhan, Marco Pedersoli, Bang Liu, Nicolas Chapados, Yoshua Bengio, Enamul Hoque, Christopher Pal, Issam H. Laradji, David Vazquez, Perouz Taslakian, Spandana Gella, Sai Rajeswar</a:t>
            </a:r>
            <a:endParaRPr sz="1165">
              <a:solidFill>
                <a:srgbClr val="4A452A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7775" y="3486088"/>
            <a:ext cx="1558058" cy="55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16679" l="22925" r="22854" t="19804"/>
          <a:stretch/>
        </p:blipFill>
        <p:spPr>
          <a:xfrm>
            <a:off x="8485525" y="4212350"/>
            <a:ext cx="583822" cy="68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McGill University Logo in SVG Vector or PNG File Format - Logo.wine" id="58" name="Google Shape;5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77225" y="4119102"/>
            <a:ext cx="1305552" cy="87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75825" y="4212345"/>
            <a:ext cx="1709688" cy="68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0" y="4301347"/>
            <a:ext cx="1063400" cy="50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72763" y="4212350"/>
            <a:ext cx="1673734" cy="68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École de technologie supérieure ÉTS - YouTube" id="62" name="Google Shape;6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73536" y="4301349"/>
            <a:ext cx="683875" cy="68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89775" y="4280876"/>
            <a:ext cx="1305549" cy="724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785925" y="3384148"/>
            <a:ext cx="2524544" cy="72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6575" y="3373125"/>
            <a:ext cx="5850600" cy="10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400"/>
              <a:t>Vision Language Models (VLMs) typically consist of </a:t>
            </a:r>
            <a:r>
              <a:rPr b="1" i="1" lang="en-CA" sz="1400"/>
              <a:t>three </a:t>
            </a:r>
            <a:r>
              <a:rPr lang="en-CA" sz="1400"/>
              <a:t>components: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CA" sz="1400"/>
              <a:t>Vision Encoder, pretrained on images.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CA" sz="1400"/>
              <a:t>LLM, pretrained on text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CA" sz="1400"/>
              <a:t>Connector that maps visual features into the LLM’s text space. </a:t>
            </a:r>
            <a:br>
              <a:rPr lang="en-CA" sz="1400"/>
            </a:br>
            <a:r>
              <a:rPr lang="en-CA" sz="1400"/>
              <a:t>  </a:t>
            </a:r>
            <a:endParaRPr sz="1400"/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342900" y="121484"/>
            <a:ext cx="61722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0C0"/>
                </a:solidFill>
              </a:rPr>
              <a:t>(5) AlignVLM: </a:t>
            </a:r>
            <a:r>
              <a:rPr lang="en-CA"/>
              <a:t>Motivation</a:t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5887175" y="2956000"/>
            <a:ext cx="2994300" cy="333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alibri"/>
                <a:ea typeface="Calibri"/>
                <a:cs typeface="Calibri"/>
                <a:sym typeface="Calibri"/>
              </a:rPr>
              <a:t>LLM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5887175" y="3606638"/>
            <a:ext cx="1064700" cy="2427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alibri"/>
                <a:ea typeface="Calibri"/>
                <a:cs typeface="Calibri"/>
                <a:sym typeface="Calibri"/>
              </a:rPr>
              <a:t>Connector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5887175" y="4119975"/>
            <a:ext cx="1064700" cy="4230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alibri"/>
                <a:ea typeface="Calibri"/>
                <a:cs typeface="Calibri"/>
                <a:sym typeface="Calibri"/>
              </a:rPr>
              <a:t>Vision Encoder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5924550" y="3933463"/>
            <a:ext cx="270900" cy="1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284075" y="3933413"/>
            <a:ext cx="270900" cy="1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6643600" y="3933413"/>
            <a:ext cx="270900" cy="1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5887175" y="3373113"/>
            <a:ext cx="270900" cy="1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6246700" y="3373163"/>
            <a:ext cx="270900" cy="1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6606225" y="3373163"/>
            <a:ext cx="270900" cy="1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7178850" y="3373163"/>
            <a:ext cx="270900" cy="149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7538375" y="3373163"/>
            <a:ext cx="270900" cy="149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7897900" y="3373163"/>
            <a:ext cx="270900" cy="149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7141475" y="3606638"/>
            <a:ext cx="1064700" cy="242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alibri"/>
                <a:ea typeface="Calibri"/>
                <a:cs typeface="Calibri"/>
                <a:sym typeface="Calibri"/>
              </a:rPr>
              <a:t>Tokenizer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8240125" y="2770963"/>
            <a:ext cx="270900" cy="149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8599650" y="2770963"/>
            <a:ext cx="270900" cy="149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p&#10;&#10;Description automatically generated with medium confidence" id="86" name="Google Shape;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4987" y="4597225"/>
            <a:ext cx="649078" cy="51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/>
          <p:nvPr/>
        </p:nvSpPr>
        <p:spPr>
          <a:xfrm>
            <a:off x="7052800" y="3933413"/>
            <a:ext cx="1386900" cy="242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Summarize the chart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8034600" y="2444188"/>
            <a:ext cx="1064700" cy="242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chart …..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212100" y="709200"/>
            <a:ext cx="9027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dk1"/>
                </a:solidFill>
              </a:rPr>
              <a:t>Text-rich Visual Understanding: </a:t>
            </a:r>
            <a:r>
              <a:rPr lang="en-CA">
                <a:solidFill>
                  <a:schemeClr val="dk1"/>
                </a:solidFill>
              </a:rPr>
              <a:t>Essential for tasks in enterprise such as document understanding, trends analysis, table extraction where both </a:t>
            </a:r>
            <a:r>
              <a:rPr b="1" lang="en-CA">
                <a:solidFill>
                  <a:schemeClr val="dk1"/>
                </a:solidFill>
              </a:rPr>
              <a:t>language</a:t>
            </a:r>
            <a:r>
              <a:rPr lang="en-CA">
                <a:solidFill>
                  <a:schemeClr val="dk1"/>
                </a:solidFill>
              </a:rPr>
              <a:t> and </a:t>
            </a:r>
            <a:r>
              <a:rPr b="1" lang="en-CA">
                <a:solidFill>
                  <a:schemeClr val="dk1"/>
                </a:solidFill>
              </a:rPr>
              <a:t>visuals</a:t>
            </a:r>
            <a:r>
              <a:rPr lang="en-CA">
                <a:solidFill>
                  <a:schemeClr val="dk1"/>
                </a:solidFill>
              </a:rPr>
              <a:t> are critical. 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0" name="Google Shape;9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000" y="1528062"/>
            <a:ext cx="781876" cy="9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342900" y="2517050"/>
            <a:ext cx="11550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PDF Analysis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782612" y="2517050"/>
            <a:ext cx="19152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Infographics &amp; Charts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4" title="Screenshot 2025-09-03 at 12.47.4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8850" y="1491926"/>
            <a:ext cx="1524877" cy="9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0174" y="1579938"/>
            <a:ext cx="1614891" cy="88523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4003800" y="2517050"/>
            <a:ext cx="15249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Extraction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-79250" y="539975"/>
            <a:ext cx="5759400" cy="19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00"/>
              <a:t>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CA" sz="1300"/>
              <a:t>LLM is pretrained to process a discrete set of text embeddings 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 sz="1300"/>
              <a:t>Existing connector (e.g., MLP) produce continuous visual features</a:t>
            </a:r>
            <a:br>
              <a:rPr lang="en-CA" sz="1300"/>
            </a:b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-CA" sz="1300"/>
              <a:t>Out-of-distribution (OOD): </a:t>
            </a:r>
            <a:r>
              <a:rPr lang="en-CA" sz="1300"/>
              <a:t>making the connector data hungry!</a:t>
            </a:r>
            <a:br>
              <a:rPr lang="en-CA" sz="1300"/>
            </a:br>
            <a:endParaRPr b="1"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-CA" sz="1300"/>
              <a:t>Unconstrained Mapping: </a:t>
            </a:r>
            <a:r>
              <a:rPr lang="en-CA" sz="1300"/>
              <a:t>They do not enforce any hard constraints which makes them </a:t>
            </a:r>
            <a:r>
              <a:rPr i="1" lang="en-CA" sz="1300"/>
              <a:t>prone to noise.</a:t>
            </a:r>
            <a:endParaRPr i="1" sz="1300"/>
          </a:p>
        </p:txBody>
      </p:sp>
      <p:sp>
        <p:nvSpPr>
          <p:cNvPr id="101" name="Google Shape;101;p15"/>
          <p:cNvSpPr txBox="1"/>
          <p:nvPr>
            <p:ph type="title"/>
          </p:nvPr>
        </p:nvSpPr>
        <p:spPr>
          <a:xfrm>
            <a:off x="194825" y="51050"/>
            <a:ext cx="5352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0C0"/>
                </a:solidFill>
              </a:rPr>
              <a:t>(5) AlignVLM: </a:t>
            </a:r>
            <a:r>
              <a:rPr lang="en-CA"/>
              <a:t>Motivation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5702050" y="986326"/>
            <a:ext cx="2139600" cy="217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Calibri"/>
                <a:ea typeface="Calibri"/>
                <a:cs typeface="Calibri"/>
                <a:sym typeface="Calibri"/>
              </a:rPr>
              <a:t>LLM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702050" y="1445522"/>
            <a:ext cx="760800" cy="1734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Calibri"/>
                <a:ea typeface="Calibri"/>
                <a:cs typeface="Calibri"/>
                <a:sym typeface="Calibri"/>
              </a:rPr>
              <a:t>Connector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5702050" y="1845872"/>
            <a:ext cx="760800" cy="3669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Calibri"/>
                <a:ea typeface="Calibri"/>
                <a:cs typeface="Calibri"/>
                <a:sym typeface="Calibri"/>
              </a:rPr>
              <a:t>Vision Encoder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728758" y="1679033"/>
            <a:ext cx="193500" cy="106800"/>
          </a:xfrm>
          <a:prstGeom prst="rect">
            <a:avLst/>
          </a:prstGeom>
          <a:solidFill>
            <a:schemeClr val="lt2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5985673" y="1679033"/>
            <a:ext cx="193500" cy="106800"/>
          </a:xfrm>
          <a:prstGeom prst="rect">
            <a:avLst/>
          </a:prstGeom>
          <a:solidFill>
            <a:schemeClr val="lt2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6242588" y="1679033"/>
            <a:ext cx="193500" cy="106800"/>
          </a:xfrm>
          <a:prstGeom prst="rect">
            <a:avLst/>
          </a:prstGeom>
          <a:solidFill>
            <a:schemeClr val="lt2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5702050" y="1278683"/>
            <a:ext cx="193500" cy="106800"/>
          </a:xfrm>
          <a:prstGeom prst="rect">
            <a:avLst/>
          </a:prstGeom>
          <a:solidFill>
            <a:schemeClr val="lt2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5958965" y="1278683"/>
            <a:ext cx="193500" cy="106800"/>
          </a:xfrm>
          <a:prstGeom prst="rect">
            <a:avLst/>
          </a:prstGeom>
          <a:solidFill>
            <a:schemeClr val="lt2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6215880" y="1278683"/>
            <a:ext cx="193500" cy="106800"/>
          </a:xfrm>
          <a:prstGeom prst="rect">
            <a:avLst/>
          </a:prstGeom>
          <a:solidFill>
            <a:schemeClr val="lt2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625075" y="1278683"/>
            <a:ext cx="193500" cy="106800"/>
          </a:xfrm>
          <a:prstGeom prst="rect">
            <a:avLst/>
          </a:prstGeom>
          <a:solidFill>
            <a:srgbClr val="F4CCCC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881989" y="1278683"/>
            <a:ext cx="193500" cy="106800"/>
          </a:xfrm>
          <a:prstGeom prst="rect">
            <a:avLst/>
          </a:prstGeom>
          <a:solidFill>
            <a:srgbClr val="F4CCCC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7138904" y="1278683"/>
            <a:ext cx="193500" cy="106800"/>
          </a:xfrm>
          <a:prstGeom prst="rect">
            <a:avLst/>
          </a:prstGeom>
          <a:solidFill>
            <a:srgbClr val="F4CCCC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598367" y="1445522"/>
            <a:ext cx="760800" cy="1734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latin typeface="Calibri"/>
                <a:ea typeface="Calibri"/>
                <a:cs typeface="Calibri"/>
                <a:sym typeface="Calibri"/>
              </a:rPr>
              <a:t>Tokenizer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7332488" y="819487"/>
            <a:ext cx="193500" cy="106800"/>
          </a:xfrm>
          <a:prstGeom prst="rect">
            <a:avLst/>
          </a:prstGeom>
          <a:solidFill>
            <a:srgbClr val="D0E0E3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7589403" y="819487"/>
            <a:ext cx="193500" cy="106800"/>
          </a:xfrm>
          <a:prstGeom prst="rect">
            <a:avLst/>
          </a:prstGeom>
          <a:solidFill>
            <a:srgbClr val="D0E0E3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p&#10;&#10;Description automatically generated with medium confidence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9677" y="2272965"/>
            <a:ext cx="425575" cy="33673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/>
          <p:nvPr/>
        </p:nvSpPr>
        <p:spPr>
          <a:xfrm>
            <a:off x="6535000" y="1679033"/>
            <a:ext cx="991200" cy="17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8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Summarize the chart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7185621" y="585976"/>
            <a:ext cx="760800" cy="17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6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325" lIns="65325" spcFirstLastPara="1" rIns="65325" wrap="square" tIns="65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78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chart …..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53600" y="3812163"/>
            <a:ext cx="42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Can we exploit the LLM’s inductive bias by aligning visual features directly with text embeddings?</a:t>
            </a:r>
            <a:endParaRPr i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0451" y="3246575"/>
            <a:ext cx="1818850" cy="181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8650" y="3246575"/>
            <a:ext cx="1869475" cy="186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14121" y="3896150"/>
            <a:ext cx="595553" cy="99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14122" y="3515150"/>
            <a:ext cx="19812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/>
          <p:nvPr/>
        </p:nvSpPr>
        <p:spPr>
          <a:xfrm>
            <a:off x="8061925" y="1261325"/>
            <a:ext cx="54600" cy="5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8142025" y="1261325"/>
            <a:ext cx="54600" cy="5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8222125" y="1261325"/>
            <a:ext cx="54600" cy="5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8302225" y="1261325"/>
            <a:ext cx="54600" cy="5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8382325" y="1261325"/>
            <a:ext cx="54600" cy="5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8462425" y="1261325"/>
            <a:ext cx="54600" cy="5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8542525" y="1261325"/>
            <a:ext cx="54600" cy="5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8622625" y="1261325"/>
            <a:ext cx="54600" cy="54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7359175" y="1237775"/>
            <a:ext cx="639600" cy="588300"/>
          </a:xfrm>
          <a:prstGeom prst="leftBrace">
            <a:avLst>
              <a:gd fmla="val 25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895325" y="1785825"/>
            <a:ext cx="10665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Embeddings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>
            <p:ph type="title"/>
          </p:nvPr>
        </p:nvSpPr>
        <p:spPr>
          <a:xfrm>
            <a:off x="342900" y="121484"/>
            <a:ext cx="61722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0C0"/>
                </a:solidFill>
              </a:rPr>
              <a:t>(5) AlignVLM: </a:t>
            </a:r>
            <a:r>
              <a:rPr lang="en-CA"/>
              <a:t>Architecture</a:t>
            </a:r>
            <a:endParaRPr/>
          </a:p>
        </p:txBody>
      </p:sp>
      <p:pic>
        <p:nvPicPr>
          <p:cNvPr id="140" name="Google Shape;14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5475" y="764675"/>
            <a:ext cx="5873051" cy="2972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42200" y="3737675"/>
            <a:ext cx="9144000" cy="1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CA">
                <a:solidFill>
                  <a:schemeClr val="dk1"/>
                </a:solidFill>
              </a:rPr>
              <a:t>Map visual features to a distribution over LLM token embeddings.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CA">
                <a:solidFill>
                  <a:schemeClr val="dk1"/>
                </a:solidFill>
              </a:rPr>
              <a:t>Computes final features as a weighted average of text embeddings.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CA">
                <a:solidFill>
                  <a:schemeClr val="dk1"/>
                </a:solidFill>
              </a:rPr>
              <a:t>Constrains visual inputs to the convex hull of the LLM’s embedding space, making them familiar to the LLM.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5020" y="3845820"/>
            <a:ext cx="2490175" cy="3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5100" y="4233663"/>
            <a:ext cx="1524400" cy="45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type="title"/>
          </p:nvPr>
        </p:nvSpPr>
        <p:spPr>
          <a:xfrm>
            <a:off x="342900" y="121484"/>
            <a:ext cx="61722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0C0"/>
                </a:solidFill>
              </a:rPr>
              <a:t>(5) AlignVLM: </a:t>
            </a:r>
            <a:r>
              <a:rPr lang="en-CA"/>
              <a:t>Training Setup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285338" y="1505775"/>
            <a:ext cx="2652900" cy="919200"/>
          </a:xfrm>
          <a:prstGeom prst="homePlate">
            <a:avLst>
              <a:gd fmla="val 50000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1: 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Natural Image Understanding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Data: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CC-12M (Image-Caption)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2771763" y="1468125"/>
            <a:ext cx="2734200" cy="994500"/>
          </a:xfrm>
          <a:prstGeom prst="chevron">
            <a:avLst>
              <a:gd fmla="val 50000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2: 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 Understanding</a:t>
            </a:r>
            <a:b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Data: 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BigDocs-7.5M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252363" y="1468125"/>
            <a:ext cx="3606300" cy="994500"/>
          </a:xfrm>
          <a:prstGeom prst="chevron">
            <a:avLst>
              <a:gd fmla="val 50000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3: 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Tuning for downstream tasks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Data: 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BigDocs-Docdownstream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626150" y="3102775"/>
            <a:ext cx="25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dk1"/>
                </a:solidFill>
              </a:rPr>
              <a:t>Model components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5567625" y="3102775"/>
            <a:ext cx="25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dk1"/>
                </a:solidFill>
              </a:rPr>
              <a:t>Evaluation Benchmarks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3001563" y="1042050"/>
            <a:ext cx="250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dk1"/>
                </a:solidFill>
              </a:rPr>
              <a:t>Training Stages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285350" y="3621850"/>
            <a:ext cx="3186000" cy="643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LLM: 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Llama 3.2 Family (1B, 3B, 8B)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 Encoder: 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SigLip-400m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4683825" y="3621850"/>
            <a:ext cx="4272000" cy="643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Nine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document benchmarks, including: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DocVQA, InfoVQA, ChartQA, TableVQA, etc.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342900" y="121484"/>
            <a:ext cx="61722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0C0"/>
                </a:solidFill>
              </a:rPr>
              <a:t>(5) AlignVLM: </a:t>
            </a:r>
            <a:r>
              <a:rPr lang="en-CA"/>
              <a:t>Results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5100" y="1069925"/>
            <a:ext cx="43749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CA">
                <a:solidFill>
                  <a:schemeClr val="dk1"/>
                </a:solidFill>
              </a:rPr>
              <a:t>We compare </a:t>
            </a:r>
            <a:r>
              <a:rPr b="1" lang="en-CA">
                <a:solidFill>
                  <a:schemeClr val="dk1"/>
                </a:solidFill>
              </a:rPr>
              <a:t>our Align Module</a:t>
            </a:r>
            <a:r>
              <a:rPr lang="en-CA">
                <a:solidFill>
                  <a:schemeClr val="dk1"/>
                </a:solidFill>
              </a:rPr>
              <a:t> against common connectors: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CA">
                <a:solidFill>
                  <a:schemeClr val="dk1"/>
                </a:solidFill>
              </a:rPr>
              <a:t>MLP, Perceiver Resampler, Ovis</a:t>
            </a:r>
            <a:br>
              <a:rPr lang="en-CA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CA">
                <a:solidFill>
                  <a:schemeClr val="dk1"/>
                </a:solidFill>
              </a:rPr>
              <a:t>Trained under similar configurations to ensure a fair comparison.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206050" y="3328600"/>
            <a:ext cx="3582300" cy="895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</a:rPr>
              <a:t>The </a:t>
            </a:r>
            <a:r>
              <a:rPr b="1" lang="en-CA">
                <a:solidFill>
                  <a:schemeClr val="dk1"/>
                </a:solidFill>
              </a:rPr>
              <a:t>Align Module </a:t>
            </a:r>
            <a:r>
              <a:rPr lang="en-CA">
                <a:solidFill>
                  <a:schemeClr val="dk1"/>
                </a:solidFill>
              </a:rPr>
              <a:t>outperforms them all and achieves better accuracy on diverse document understanding tasks.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9950" y="764684"/>
            <a:ext cx="4369201" cy="3835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342900" y="121484"/>
            <a:ext cx="61722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0C0"/>
                </a:solidFill>
              </a:rPr>
              <a:t>(5) AlignVLM: </a:t>
            </a:r>
            <a:r>
              <a:rPr lang="en-CA"/>
              <a:t>General Vision Tasks</a:t>
            </a:r>
            <a:endParaRPr/>
          </a:p>
        </p:txBody>
      </p:sp>
      <p:pic>
        <p:nvPicPr>
          <p:cNvPr id="170" name="Google Shape;170;p19" title="Screenshot 2025-09-03 at 1.26.0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575" y="3344447"/>
            <a:ext cx="8304852" cy="95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/>
          <p:nvPr/>
        </p:nvSpPr>
        <p:spPr>
          <a:xfrm>
            <a:off x="1307651" y="1275950"/>
            <a:ext cx="3379200" cy="919200"/>
          </a:xfrm>
          <a:prstGeom prst="homePlate">
            <a:avLst>
              <a:gd fmla="val 50000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1: 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Natural Image Understanding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Data: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CC-12M (Image-Caption)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474568" y="1238300"/>
            <a:ext cx="3482400" cy="994500"/>
          </a:xfrm>
          <a:prstGeom prst="chevron">
            <a:avLst>
              <a:gd fmla="val 50000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2: 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Tuning</a:t>
            </a:r>
            <a:b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Data: 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Mammoth-vl-12M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342900" y="121484"/>
            <a:ext cx="61722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0C0"/>
                </a:solidFill>
              </a:rPr>
              <a:t>(5) AlignVLM: </a:t>
            </a:r>
            <a:r>
              <a:rPr lang="en-CA"/>
              <a:t>Low Resource Setup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1307651" y="1275950"/>
            <a:ext cx="3379200" cy="919200"/>
          </a:xfrm>
          <a:prstGeom prst="homePlate">
            <a:avLst>
              <a:gd fmla="val 50000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1: 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Natural Image Understanding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Data: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Llava-585K (Image-Caption)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474568" y="1238300"/>
            <a:ext cx="3482400" cy="994500"/>
          </a:xfrm>
          <a:prstGeom prst="chevron">
            <a:avLst>
              <a:gd fmla="val 50000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2: 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Tuning</a:t>
            </a:r>
            <a:b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Data: </a:t>
            </a:r>
            <a:r>
              <a:rPr lang="en-CA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Llava-Next-779K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50" y="3069175"/>
            <a:ext cx="8239125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342900" y="121475"/>
            <a:ext cx="74658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0C0"/>
                </a:solidFill>
              </a:rPr>
              <a:t>(5) AlignVLM: </a:t>
            </a:r>
            <a:r>
              <a:rPr lang="en-CA"/>
              <a:t>Pruning</a:t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363" y="3307725"/>
            <a:ext cx="8523426" cy="1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5400" y="507237"/>
            <a:ext cx="2867225" cy="23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268125" y="952100"/>
            <a:ext cx="5732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dk1"/>
                </a:solidFill>
              </a:rPr>
              <a:t>Token utilization:</a:t>
            </a:r>
            <a:r>
              <a:rPr lang="en-CA">
                <a:solidFill>
                  <a:schemeClr val="dk1"/>
                </a:solidFill>
              </a:rPr>
              <a:t> Align focuses on ~3.4K out of 128K </a:t>
            </a:r>
            <a:r>
              <a:rPr lang="en-CA">
                <a:solidFill>
                  <a:schemeClr val="dk1"/>
                </a:solidFill>
              </a:rPr>
              <a:t>tokens</a:t>
            </a:r>
            <a:r>
              <a:rPr lang="en-CA">
                <a:solidFill>
                  <a:schemeClr val="dk1"/>
                </a:solidFill>
              </a:rPr>
              <a:t>, ignoring the rest.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dk1"/>
                </a:solidFill>
              </a:rPr>
              <a:t>Latent coverage: </a:t>
            </a:r>
            <a:r>
              <a:rPr lang="en-CA">
                <a:solidFill>
                  <a:schemeClr val="dk1"/>
                </a:solidFill>
              </a:rPr>
              <a:t>These tokens span the LLM’s embedding space.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chemeClr val="dk1"/>
                </a:solidFill>
              </a:rPr>
              <a:t>Efficiency: </a:t>
            </a:r>
            <a:r>
              <a:rPr lang="en-CA">
                <a:solidFill>
                  <a:schemeClr val="dk1"/>
                </a:solidFill>
              </a:rPr>
              <a:t>Pruning to these tokens preserves performance and boosts efficiency.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